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3A5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444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030A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Pathogenic/Pheno-Irrel.</c:v>
                  </c:pt>
                  <c:pt idx="1">
                    <c:v>Phenotype Distractor</c:v>
                  </c:pt>
                  <c:pt idx="2">
                    <c:v>Not Labelled</c:v>
                  </c:pt>
                  <c:pt idx="3">
                    <c:v>Universal Distractor</c:v>
                  </c:pt>
                  <c:pt idx="4">
                    <c:v>Tissue Distractor</c:v>
                  </c:pt>
                  <c:pt idx="5">
                    <c:v>Non-Syndromic Phenotype</c:v>
                  </c:pt>
                  <c:pt idx="6">
                    <c:v>Common FP</c:v>
                  </c:pt>
                  <c:pt idx="7">
                    <c:v>Insufficient Explanatory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128</c:v>
                </c:pt>
                <c:pt idx="1">
                  <c:v>104</c:v>
                </c:pt>
                <c:pt idx="2">
                  <c:v>68</c:v>
                </c:pt>
                <c:pt idx="3">
                  <c:v>33</c:v>
                </c:pt>
                <c:pt idx="4">
                  <c:v>26</c:v>
                </c:pt>
                <c:pt idx="5">
                  <c:v>16</c:v>
                </c:pt>
                <c:pt idx="6">
                  <c:v>6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3A5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200000"/>
          <a:lstStyle/>
          <a:p>
            <a:pPr>
              <a:defRPr sz="9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Pathogenic/Pheno-Irrel.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38.6</c:v>
                </c:pt>
                <c:pt idx="1">
                  <c:v>33.3</c:v>
                </c:pt>
                <c:pt idx="2">
                  <c:v>27.5</c:v>
                </c:pt>
                <c:pt idx="3">
                  <c:v>32.9</c:v>
                </c:pt>
                <c:pt idx="4">
                  <c:v>32.5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Phenotype Distractor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19.3</c:v>
                </c:pt>
                <c:pt idx="1">
                  <c:v>18.8</c:v>
                </c:pt>
                <c:pt idx="2">
                  <c:v>42.5</c:v>
                </c:pt>
                <c:pt idx="3">
                  <c:v>19.7</c:v>
                </c:pt>
                <c:pt idx="4">
                  <c:v>32.5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Labelled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14.8</c:v>
                </c:pt>
                <c:pt idx="1">
                  <c:v>27.5</c:v>
                </c:pt>
                <c:pt idx="2">
                  <c:v>17.5</c:v>
                </c:pt>
                <c:pt idx="3">
                  <c:v>17.1</c:v>
                </c:pt>
                <c:pt idx="4">
                  <c:v>13.3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Universal Distractor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12.5</c:v>
                </c:pt>
                <c:pt idx="1">
                  <c:v>7.2</c:v>
                </c:pt>
                <c:pt idx="2">
                  <c:v>3.8</c:v>
                </c:pt>
                <c:pt idx="3">
                  <c:v>13.2</c:v>
                </c:pt>
                <c:pt idx="4">
                  <c:v>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Tissue Distractor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</c:v>
                </c:pt>
                <c:pt idx="1">
                  <c:v>0</c:v>
                </c:pt>
                <c:pt idx="2">
                  <c:v>6.3</c:v>
                </c:pt>
                <c:pt idx="3">
                  <c:v>10.5</c:v>
                </c:pt>
                <c:pt idx="4">
                  <c:v>8.4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Non-Syndromic Phenotype</c:v>
                </c:pt>
              </c:strCache>
            </c:strRef>
          </c:tx>
          <c:spPr>
            <a:solidFill>
              <a:srgbClr val="FFC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5.7</c:v>
                </c:pt>
                <c:pt idx="1">
                  <c:v>5.8</c:v>
                </c:pt>
                <c:pt idx="2">
                  <c:v>2.5</c:v>
                </c:pt>
                <c:pt idx="3">
                  <c:v>2.6</c:v>
                </c:pt>
                <c:pt idx="4">
                  <c:v>3.6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Common FP</c:v>
                </c:pt>
              </c:strCache>
            </c:strRef>
          </c:tx>
          <c:spPr>
            <a:solidFill>
              <a:srgbClr val="F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</c:v>
                </c:pt>
                <c:pt idx="1">
                  <c:v>4.3</c:v>
                </c:pt>
                <c:pt idx="2">
                  <c:v>0</c:v>
                </c:pt>
                <c:pt idx="3">
                  <c:v>1.3</c:v>
                </c:pt>
                <c:pt idx="4">
                  <c:v>2.4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Insufficient Explanatory</c:v>
                </c:pt>
              </c:strCache>
            </c:strRef>
          </c:tx>
          <c:spPr>
            <a:solidFill>
              <a:srgbClr val="703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1.1</c:v>
                </c:pt>
                <c:pt idx="1">
                  <c:v>2.9</c:v>
                </c:pt>
                <c:pt idx="2">
                  <c:v>0</c:v>
                </c:pt>
                <c:pt idx="3">
                  <c:v>2.6</c:v>
                </c:pt>
                <c:pt idx="4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3333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3A5E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1C3A5E"/>
                </a:solidFill>
                <a:latin typeface="Calibri"/>
              </a:rPr>
              <a:t>Distractor Type Distribution (n=387)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33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444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030A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Pathogenic/Pheno-Irrel.</c:v>
                  </c:pt>
                  <c:pt idx="1">
                    <c:v>Phenotype Distractor</c:v>
                  </c:pt>
                  <c:pt idx="2">
                    <c:v>Not Labelled</c:v>
                  </c:pt>
                  <c:pt idx="3">
                    <c:v>Universal Distractor</c:v>
                  </c:pt>
                  <c:pt idx="4">
                    <c:v>Tissue Distractor</c:v>
                  </c:pt>
                  <c:pt idx="5">
                    <c:v>Non-Syndromic Phenotype</c:v>
                  </c:pt>
                  <c:pt idx="6">
                    <c:v>Common FP</c:v>
                  </c:pt>
                  <c:pt idx="7">
                    <c:v>Insufficient Explanatory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128</c:v>
                </c:pt>
                <c:pt idx="1">
                  <c:v>104</c:v>
                </c:pt>
                <c:pt idx="2">
                  <c:v>68</c:v>
                </c:pt>
                <c:pt idx="3">
                  <c:v>33</c:v>
                </c:pt>
                <c:pt idx="4">
                  <c:v>26</c:v>
                </c:pt>
                <c:pt idx="5">
                  <c:v>16</c:v>
                </c:pt>
                <c:pt idx="6">
                  <c:v>6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33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7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9FA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3A5E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1C3A5E"/>
                </a:solidFill>
                <a:latin typeface="Calibri"/>
              </a:rPr>
              <a:t>Distractor Breakdown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Pathogenic/Pheno-Irrel.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38.6</c:v>
                </c:pt>
                <c:pt idx="1">
                  <c:v>33.3</c:v>
                </c:pt>
                <c:pt idx="2">
                  <c:v>27.5</c:v>
                </c:pt>
                <c:pt idx="3">
                  <c:v>32.9</c:v>
                </c:pt>
                <c:pt idx="4">
                  <c:v>32.5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Phenotype Distractor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19.3</c:v>
                </c:pt>
                <c:pt idx="1">
                  <c:v>18.8</c:v>
                </c:pt>
                <c:pt idx="2">
                  <c:v>42.5</c:v>
                </c:pt>
                <c:pt idx="3">
                  <c:v>19.7</c:v>
                </c:pt>
                <c:pt idx="4">
                  <c:v>32.5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Labelled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14.8</c:v>
                </c:pt>
                <c:pt idx="1">
                  <c:v>27.5</c:v>
                </c:pt>
                <c:pt idx="2">
                  <c:v>17.5</c:v>
                </c:pt>
                <c:pt idx="3">
                  <c:v>17.1</c:v>
                </c:pt>
                <c:pt idx="4">
                  <c:v>13.3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Universal Distractor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12.5</c:v>
                </c:pt>
                <c:pt idx="1">
                  <c:v>7.2</c:v>
                </c:pt>
                <c:pt idx="2">
                  <c:v>3.8</c:v>
                </c:pt>
                <c:pt idx="3">
                  <c:v>13.2</c:v>
                </c:pt>
                <c:pt idx="4">
                  <c:v>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Tissue Distractor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</c:v>
                </c:pt>
                <c:pt idx="1">
                  <c:v>0</c:v>
                </c:pt>
                <c:pt idx="2">
                  <c:v>6.3</c:v>
                </c:pt>
                <c:pt idx="3">
                  <c:v>10.5</c:v>
                </c:pt>
                <c:pt idx="4">
                  <c:v>8.4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Non-Syndromic Phenotype</c:v>
                </c:pt>
              </c:strCache>
            </c:strRef>
          </c:tx>
          <c:spPr>
            <a:solidFill>
              <a:srgbClr val="FFC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5.7</c:v>
                </c:pt>
                <c:pt idx="1">
                  <c:v>5.8</c:v>
                </c:pt>
                <c:pt idx="2">
                  <c:v>2.5</c:v>
                </c:pt>
                <c:pt idx="3">
                  <c:v>2.6</c:v>
                </c:pt>
                <c:pt idx="4">
                  <c:v>3.6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Common FP</c:v>
                </c:pt>
              </c:strCache>
            </c:strRef>
          </c:tx>
          <c:spPr>
            <a:solidFill>
              <a:srgbClr val="F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</c:v>
                </c:pt>
                <c:pt idx="1">
                  <c:v>4.3</c:v>
                </c:pt>
                <c:pt idx="2">
                  <c:v>0</c:v>
                </c:pt>
                <c:pt idx="3">
                  <c:v>1.3</c:v>
                </c:pt>
                <c:pt idx="4">
                  <c:v>2.4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Insufficient Explanatory</c:v>
                </c:pt>
              </c:strCache>
            </c:strRef>
          </c:tx>
          <c:spPr>
            <a:solidFill>
              <a:srgbClr val="703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Known Gene/Disease (n=88)</c:v>
                  </c:pt>
                  <c:pt idx="1">
                    <c:v>Known Gene, Known Disease (n=69)</c:v>
                  </c:pt>
                  <c:pt idx="2">
                    <c:v>Known Gene, New Disease (n=80)</c:v>
                  </c:pt>
                  <c:pt idx="3">
                    <c:v>New Gene, Known Disease (n=76)</c:v>
                  </c:pt>
                  <c:pt idx="4">
                    <c:v>New Gene, New Disease (n=83)</c:v>
                  </c:pt>
                </c:lvl>
              </c:multiLvlStrCache>
            </c:multiLvl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1.1</c:v>
                </c:pt>
                <c:pt idx="1">
                  <c:v>2.9</c:v>
                </c:pt>
                <c:pt idx="2">
                  <c:v>0</c:v>
                </c:pt>
                <c:pt idx="3">
                  <c:v>2.6</c:v>
                </c:pt>
                <c:pt idx="4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9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3333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Updated Charts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Type Analysis · n = 387 non-rank-1 patients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AIVA-rank-bench comparison_metrics.csv  |  Scaled from n=396 per-patient records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Distractor Types (n = 387)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non-rank-1 patients found within top-20 predictions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8595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Type Breakdown by Patient Category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non-rank-1 patients per category (n per category shown)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Updated (n = 387)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137160" y="548640"/>
          <a:ext cx="4297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548640"/>
          <a:ext cx="4480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3 - Updated Charts</dc:title>
  <dc:subject>PptxGenJS Presentation</dc:subject>
  <dc:creator>AKB</dc:creator>
  <cp:lastModifiedBy>AKB</cp:lastModifiedBy>
  <cp:revision>1</cp:revision>
  <dcterms:created xsi:type="dcterms:W3CDTF">2026-07-04T22:29:32Z</dcterms:created>
  <dcterms:modified xsi:type="dcterms:W3CDTF">2026-07-04T22:29:32Z</dcterms:modified>
</cp:coreProperties>
</file>