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A8D4A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D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EC5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1B9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9F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Insufficient
explanatory  (1.6%)</c:v>
                  </c:pt>
                  <c:pt idx="1">
                    <c:v>Common false
positive  (1.6%)</c:v>
                  </c:pt>
                  <c:pt idx="2">
                    <c:v>Non-syndromic
phenotype gene  (4.1%)</c:v>
                  </c:pt>
                  <c:pt idx="3">
                    <c:v>Tissue distractor  (6.7%)</c:v>
                  </c:pt>
                  <c:pt idx="4">
                    <c:v>Universal distractor  (8.5%)</c:v>
                  </c:pt>
                  <c:pt idx="5">
                    <c:v>Not labelled  (17.6%)</c:v>
                  </c:pt>
                  <c:pt idx="6">
                    <c:v>Phenotype Distractor  (26.9%)</c:v>
                  </c:pt>
                  <c:pt idx="7">
                    <c:v>Pathogenic but
phenotype-irrelevant  (33.1%)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6</c:v>
                </c:pt>
                <c:pt idx="2">
                  <c:v>16</c:v>
                </c:pt>
                <c:pt idx="3">
                  <c:v>26</c:v>
                </c:pt>
                <c:pt idx="4">
                  <c:v>33</c:v>
                </c:pt>
                <c:pt idx="5">
                  <c:v>68</c:v>
                </c:pt>
                <c:pt idx="6">
                  <c:v>104</c:v>
                </c:pt>
                <c:pt idx="7">
                  <c:v>128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Number of patients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Pathogenic but phenotype-irrelevant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</c:v>
                </c:pt>
                <c:pt idx="1">
                  <c:v>9.8</c:v>
                </c:pt>
                <c:pt idx="2">
                  <c:v>9</c:v>
                </c:pt>
                <c:pt idx="3">
                  <c:v>10.2</c:v>
                </c:pt>
                <c:pt idx="4">
                  <c:v>10.8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Phenotype Distractor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5.6</c:v>
                </c:pt>
                <c:pt idx="2">
                  <c:v>13.9</c:v>
                </c:pt>
                <c:pt idx="3">
                  <c:v>6.1</c:v>
                </c:pt>
                <c:pt idx="4">
                  <c:v>10.8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labelled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3.1</c:v>
                </c:pt>
                <c:pt idx="1">
                  <c:v>8.1</c:v>
                </c:pt>
                <c:pt idx="2">
                  <c:v>5.7</c:v>
                </c:pt>
                <c:pt idx="3">
                  <c:v>5.3</c:v>
                </c:pt>
                <c:pt idx="4">
                  <c:v>4.4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Universal distractor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2.6</c:v>
                </c:pt>
                <c:pt idx="1">
                  <c:v>2.1</c:v>
                </c:pt>
                <c:pt idx="2">
                  <c:v>1.2</c:v>
                </c:pt>
                <c:pt idx="3">
                  <c:v>4.1</c:v>
                </c:pt>
                <c:pt idx="4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Tissue distractor</c:v>
                </c:pt>
              </c:strCache>
            </c:strRef>
          </c:tx>
          <c:spPr>
            <a:solidFill>
              <a:srgbClr val="5B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1.7</c:v>
                </c:pt>
                <c:pt idx="1">
                  <c:v>0</c:v>
                </c:pt>
                <c:pt idx="2">
                  <c:v>2</c:v>
                </c:pt>
                <c:pt idx="3">
                  <c:v>3.3</c:v>
                </c:pt>
                <c:pt idx="4">
                  <c:v>2.8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Non-syndromic phenotype gene</c:v>
                </c:pt>
              </c:strCache>
            </c:strRef>
          </c:tx>
          <c:spPr>
            <a:solidFill>
              <a:srgbClr val="71B9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1.2</c:v>
                </c:pt>
                <c:pt idx="1">
                  <c:v>1.7</c:v>
                </c:pt>
                <c:pt idx="2">
                  <c:v>0.8</c:v>
                </c:pt>
                <c:pt idx="3">
                  <c:v>0.8</c:v>
                </c:pt>
                <c:pt idx="4">
                  <c:v>1.2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Common false positive</c:v>
                </c:pt>
              </c:strCache>
            </c:strRef>
          </c:tx>
          <c:spPr>
            <a:solidFill>
              <a:srgbClr val="BEC5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1.3</c:v>
                </c:pt>
                <c:pt idx="2">
                  <c:v>0</c:v>
                </c:pt>
                <c:pt idx="3">
                  <c:v>0.4</c:v>
                </c:pt>
                <c:pt idx="4">
                  <c:v>0.8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Insufficient explanatory</c:v>
                </c:pt>
              </c:strCache>
            </c:strRef>
          </c:tx>
          <c:spPr>
            <a:solidFill>
              <a:srgbClr val="A8D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0.2</c:v>
                </c:pt>
                <c:pt idx="1">
                  <c:v>0.9</c:v>
                </c:pt>
                <c:pt idx="2">
                  <c:v>0</c:v>
                </c:pt>
                <c:pt idx="3">
                  <c:v>0.8</c:v>
                </c:pt>
                <c:pt idx="4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Pathogenic but phenotype-irrelevant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</c:v>
                </c:pt>
                <c:pt idx="1">
                  <c:v>9.8</c:v>
                </c:pt>
                <c:pt idx="2">
                  <c:v>9</c:v>
                </c:pt>
                <c:pt idx="3">
                  <c:v>10.2</c:v>
                </c:pt>
                <c:pt idx="4">
                  <c:v>10.8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Phenotype Distractor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5.6</c:v>
                </c:pt>
                <c:pt idx="2">
                  <c:v>13.9</c:v>
                </c:pt>
                <c:pt idx="3">
                  <c:v>6.1</c:v>
                </c:pt>
                <c:pt idx="4">
                  <c:v>10.8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labelled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3.1</c:v>
                </c:pt>
                <c:pt idx="1">
                  <c:v>8.1</c:v>
                </c:pt>
                <c:pt idx="2">
                  <c:v>5.7</c:v>
                </c:pt>
                <c:pt idx="3">
                  <c:v>5.3</c:v>
                </c:pt>
                <c:pt idx="4">
                  <c:v>4.4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Universal distractor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2.6</c:v>
                </c:pt>
                <c:pt idx="1">
                  <c:v>2.1</c:v>
                </c:pt>
                <c:pt idx="2">
                  <c:v>1.2</c:v>
                </c:pt>
                <c:pt idx="3">
                  <c:v>4.1</c:v>
                </c:pt>
                <c:pt idx="4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Tissue distractor</c:v>
                </c:pt>
              </c:strCache>
            </c:strRef>
          </c:tx>
          <c:spPr>
            <a:solidFill>
              <a:srgbClr val="5B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1.7</c:v>
                </c:pt>
                <c:pt idx="1">
                  <c:v>0</c:v>
                </c:pt>
                <c:pt idx="2">
                  <c:v>2</c:v>
                </c:pt>
                <c:pt idx="3">
                  <c:v>3.3</c:v>
                </c:pt>
                <c:pt idx="4">
                  <c:v>2.8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Non-syndromic phenotype gene</c:v>
                </c:pt>
              </c:strCache>
            </c:strRef>
          </c:tx>
          <c:spPr>
            <a:solidFill>
              <a:srgbClr val="71B9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1.2</c:v>
                </c:pt>
                <c:pt idx="1">
                  <c:v>1.7</c:v>
                </c:pt>
                <c:pt idx="2">
                  <c:v>0.8</c:v>
                </c:pt>
                <c:pt idx="3">
                  <c:v>0.8</c:v>
                </c:pt>
                <c:pt idx="4">
                  <c:v>1.2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Common false positive</c:v>
                </c:pt>
              </c:strCache>
            </c:strRef>
          </c:tx>
          <c:spPr>
            <a:solidFill>
              <a:srgbClr val="BEC5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1.3</c:v>
                </c:pt>
                <c:pt idx="2">
                  <c:v>0</c:v>
                </c:pt>
                <c:pt idx="3">
                  <c:v>0.4</c:v>
                </c:pt>
                <c:pt idx="4">
                  <c:v>0.8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Insufficient explanatory</c:v>
                </c:pt>
              </c:strCache>
            </c:strRef>
          </c:tx>
          <c:spPr>
            <a:solidFill>
              <a:srgbClr val="A8D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Known-Gene Disease (N=422)</c:v>
                  </c:pt>
                  <c:pt idx="1">
                    <c:v>Known-Gene + Known-Disease (N=234)</c:v>
                  </c:pt>
                  <c:pt idx="2">
                    <c:v>Known-Gene + New-Disease (N=244)</c:v>
                  </c:pt>
                  <c:pt idx="3">
                    <c:v>New-Gene + Known-Disease (N=246)</c:v>
                  </c:pt>
                  <c:pt idx="4">
                    <c:v>New-Gene + New-Disease (N=250)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0.2</c:v>
                </c:pt>
                <c:pt idx="1">
                  <c:v>0.9</c:v>
                </c:pt>
                <c:pt idx="2">
                  <c:v>0</c:v>
                </c:pt>
                <c:pt idx="3">
                  <c:v>0.8</c:v>
                </c:pt>
                <c:pt idx="4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A8D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D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EC5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1B9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9F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Insufficient
explanatory</c:v>
                  </c:pt>
                  <c:pt idx="1">
                    <c:v>Common false
positive</c:v>
                  </c:pt>
                  <c:pt idx="2">
                    <c:v>Non-syndromic
phenotype gene</c:v>
                  </c:pt>
                  <c:pt idx="3">
                    <c:v>Tissue distractor</c:v>
                  </c:pt>
                  <c:pt idx="4">
                    <c:v>Universal distractor</c:v>
                  </c:pt>
                  <c:pt idx="5">
                    <c:v>Not labelled</c:v>
                  </c:pt>
                  <c:pt idx="6">
                    <c:v>Phenotype Distractor</c:v>
                  </c:pt>
                  <c:pt idx="7">
                    <c:v>Pathogenic but
phenotype-irrelevant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6</c:v>
                </c:pt>
                <c:pt idx="2">
                  <c:v>16</c:v>
                </c:pt>
                <c:pt idx="3">
                  <c:v>26</c:v>
                </c:pt>
                <c:pt idx="4">
                  <c:v>33</c:v>
                </c:pt>
                <c:pt idx="5">
                  <c:v>68</c:v>
                </c:pt>
                <c:pt idx="6">
                  <c:v>104</c:v>
                </c:pt>
                <c:pt idx="7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Distractor-Gene type  (N = 387 non rank-1 patients)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621792"/>
          <a:ext cx="85953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category of breakdown  (% of all patients in category)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621792"/>
          <a:ext cx="71323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8463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patients in category (= total error rate)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4840" y="4572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Distractor category of breakdown (% of all patients in category)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" y="26517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Distractor-Gene type  (N = 387 non rank-1 patients)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434840" y="530352"/>
          <a:ext cx="46634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434840" y="306324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patients in category (= total error rate)</a:t>
            </a:r>
            <a:endParaRPr lang="en-US" sz="8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5720" y="2926080"/>
          <a:ext cx="4343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" y="4892040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patients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 — Updated Charts (n=387)</dc:title>
  <dc:subject>PptxGenJS Presentation</dc:subject>
  <dc:creator>AKB</dc:creator>
  <cp:lastModifiedBy>AKB</cp:lastModifiedBy>
  <cp:revision>1</cp:revision>
  <dcterms:created xsi:type="dcterms:W3CDTF">2026-07-04T22:37:08Z</dcterms:created>
  <dcterms:modified xsi:type="dcterms:W3CDTF">2026-07-04T22:37:08Z</dcterms:modified>
</cp:coreProperties>
</file>